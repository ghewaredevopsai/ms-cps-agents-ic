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Asset allocation</c:v>
                </c:pt>
              </c:strCache>
            </c:strRef>
          </c:tx>
          <c:dPt>
            <c:idx val="0"/>
            <c:spPr>
              <a:solidFill>
                <a:srgbClr val="1E88A8"/>
              </a:solidFill>
            </c:spPr>
          </c:dPt>
          <c:dPt>
            <c:idx val="1"/>
            <c:spPr>
              <a:solidFill>
                <a:srgbClr val="12263F"/>
              </a:solidFill>
            </c:spPr>
          </c:dPt>
          <c:dPt>
            <c:idx val="2"/>
            <c:spPr>
              <a:solidFill>
                <a:srgbClr val="C9A227"/>
              </a:solidFill>
            </c:spPr>
          </c:dPt>
          <c:dPt>
            <c:idx val="3"/>
            <c:spPr>
              <a:solidFill>
                <a:srgbClr val="5C7D94"/>
              </a:solidFill>
            </c:spPr>
          </c:dPt>
          <c:cat>
            <c:strRef>
              <c:f>Sheet1!$A$2:$A$5</c:f>
              <c:strCache>
                <c:ptCount val="4"/>
                <c:pt idx="0">
                  <c:v>Equity</c:v>
                </c:pt>
                <c:pt idx="1">
                  <c:v>Fixed income (debt)</c:v>
                </c:pt>
                <c:pt idx="2">
                  <c:v>Gold / commodities</c:v>
                </c:pt>
                <c:pt idx="3">
                  <c:v>Cash &amp; equivalents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24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1226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Northwind Multi-Asset Growth Fund - Q2 2026 Review  ·  Meridian Retirement Trust (CL-4471)  ·  data as of 2026-06-30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794760"/>
          </a:xfrm>
          <a:prstGeom prst="rect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4000" b="1">
                <a:solidFill>
                  <a:srgbClr val="FFFFFF"/>
                </a:solidFill>
                <a:latin typeface="Segoe UI"/>
              </a:defRPr>
            </a:pPr>
            <a:r>
              <a:t>Northwind Multi-Asset Growth Fund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88920"/>
            <a:ext cx="1463040" cy="444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500" b="0">
                <a:solidFill>
                  <a:srgbClr val="9EC5D8"/>
                </a:solidFill>
                <a:latin typeface="Segoe UI"/>
              </a:defRPr>
            </a:pPr>
            <a:r>
              <a:t>Q2 2026 Review - Meridian Retirement Trust (CL-4471) - Data as of 30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Performance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3175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Northwind Multi-Asset Growth Fund - Q2 2026 Review  ·  Meridian Retirement Trust (CL-4471)  ·  data as of 2026-06-30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545738" cy="2240280"/>
          </a:xfrm>
          <a:prstGeom prst="rect">
            <a:avLst/>
          </a:prstGeom>
          <a:solidFill>
            <a:srgbClr val="F4F8FB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8100" cy="224028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18488"/>
            <a:ext cx="314340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100" b="0">
                <a:solidFill>
                  <a:srgbClr val="5C7D94"/>
                </a:solidFill>
                <a:latin typeface="Segoe UI"/>
              </a:defRPr>
            </a:pPr>
            <a:r>
              <a:t>Fund - 3 year (annualised)</a:t>
            </a:r>
          </a:p>
          <a:p>
            <a:pPr>
              <a:spcBef>
                <a:spcPts val="60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15.6%</a:t>
            </a:r>
          </a:p>
          <a:p>
            <a:pPr>
              <a:spcBef>
                <a:spcPts val="600"/>
              </a:spcBef>
              <a:defRPr sz="900" b="0" i="1">
                <a:solidFill>
                  <a:srgbClr val="5C7D94"/>
                </a:solidFill>
                <a:latin typeface="Segoe UI"/>
              </a:defRPr>
            </a:pPr>
            <a:r>
              <a:t>Factsheet,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978" y="1417320"/>
            <a:ext cx="3545738" cy="2240280"/>
          </a:xfrm>
          <a:prstGeom prst="rect">
            <a:avLst/>
          </a:prstGeom>
          <a:solidFill>
            <a:srgbClr val="F4F8FB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2978" y="1417320"/>
            <a:ext cx="38100" cy="224028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4146" y="1618488"/>
            <a:ext cx="314340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100" b="0">
                <a:solidFill>
                  <a:srgbClr val="5C7D94"/>
                </a:solidFill>
                <a:latin typeface="Segoe UI"/>
              </a:defRPr>
            </a:pPr>
            <a:r>
              <a:t>Benchmark - 3 year</a:t>
            </a:r>
          </a:p>
          <a:p>
            <a:pPr>
              <a:spcBef>
                <a:spcPts val="60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13.1%</a:t>
            </a:r>
          </a:p>
          <a:p>
            <a:pPr>
              <a:spcBef>
                <a:spcPts val="600"/>
              </a:spcBef>
              <a:defRPr sz="900" b="0" i="1">
                <a:solidFill>
                  <a:srgbClr val="5C7D94"/>
                </a:solidFill>
                <a:latin typeface="Segoe UI"/>
              </a:defRPr>
            </a:pPr>
            <a:r>
              <a:t>SQL usp_GetBenchmarkReturns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417320"/>
            <a:ext cx="3545738" cy="2240280"/>
          </a:xfrm>
          <a:prstGeom prst="rect">
            <a:avLst/>
          </a:prstGeom>
          <a:solidFill>
            <a:srgbClr val="F4F8FB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7316" y="1417320"/>
            <a:ext cx="38100" cy="224028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8484" y="1618488"/>
            <a:ext cx="314340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100" b="0">
                <a:solidFill>
                  <a:srgbClr val="5C7D94"/>
                </a:solidFill>
                <a:latin typeface="Segoe UI"/>
              </a:defRPr>
            </a:pPr>
            <a:r>
              <a:t>Excess return - 3 year</a:t>
            </a:r>
          </a:p>
          <a:p>
            <a:pPr>
              <a:spcBef>
                <a:spcPts val="60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2.5%</a:t>
            </a:r>
          </a:p>
          <a:p>
            <a:pPr>
              <a:spcBef>
                <a:spcPts val="600"/>
              </a:spcBef>
              <a:defRPr sz="900" b="0" i="1">
                <a:solidFill>
                  <a:srgbClr val="5C7D94"/>
                </a:solidFill>
                <a:latin typeface="Segoe UI"/>
              </a:defRPr>
            </a:pPr>
            <a:r>
              <a:t>SQL usp_GetExcessReturn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3545738" cy="2240280"/>
          </a:xfrm>
          <a:prstGeom prst="rect">
            <a:avLst/>
          </a:prstGeom>
          <a:solidFill>
            <a:srgbClr val="F4F8FB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38100" cy="224028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087368"/>
            <a:ext cx="314340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100" b="0">
                <a:solidFill>
                  <a:srgbClr val="5C7D94"/>
                </a:solidFill>
                <a:latin typeface="Segoe UI"/>
              </a:defRPr>
            </a:pPr>
            <a:r>
              <a:t>Fund size</a:t>
            </a:r>
          </a:p>
          <a:p>
            <a:pPr>
              <a:spcBef>
                <a:spcPts val="60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Rs 4,820 crore</a:t>
            </a:r>
          </a:p>
          <a:p>
            <a:pPr>
              <a:spcBef>
                <a:spcPts val="600"/>
              </a:spcBef>
              <a:defRPr sz="900" b="0" i="1">
                <a:solidFill>
                  <a:srgbClr val="5C7D94"/>
                </a:solidFill>
                <a:latin typeface="Segoe UI"/>
              </a:defRPr>
            </a:pPr>
            <a:r>
              <a:t>Factsheet, Key Facts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2978" y="3886200"/>
            <a:ext cx="3545738" cy="2240280"/>
          </a:xfrm>
          <a:prstGeom prst="rect">
            <a:avLst/>
          </a:prstGeom>
          <a:solidFill>
            <a:srgbClr val="F4F8FB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2978" y="3886200"/>
            <a:ext cx="38100" cy="224028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4146" y="4087368"/>
            <a:ext cx="314340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100" b="0">
                <a:solidFill>
                  <a:srgbClr val="5C7D94"/>
                </a:solidFill>
                <a:latin typeface="Segoe UI"/>
              </a:defRPr>
            </a:pPr>
            <a:r>
              <a:t>Fund size (USD)</a:t>
            </a:r>
          </a:p>
          <a:p>
            <a:pPr>
              <a:spcBef>
                <a:spcPts val="60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USD 509.2 mn</a:t>
            </a:r>
          </a:p>
          <a:p>
            <a:pPr>
              <a:spcBef>
                <a:spcPts val="600"/>
              </a:spcBef>
              <a:defRPr sz="900" b="0" i="1">
                <a:solidFill>
                  <a:srgbClr val="5C7D94"/>
                </a:solidFill>
                <a:latin typeface="Segoe UI"/>
              </a:defRPr>
            </a:pPr>
            <a:r>
              <a:t>Action Get FX Rate, 94.66 at 2026-06-30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7316" y="3886200"/>
            <a:ext cx="3545738" cy="2240280"/>
          </a:xfrm>
          <a:prstGeom prst="rect">
            <a:avLst/>
          </a:prstGeom>
          <a:solidFill>
            <a:srgbClr val="F4F8FB"/>
          </a:solidFill>
          <a:ln w="9525">
            <a:solidFill>
              <a:srgbClr val="DB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3886200"/>
            <a:ext cx="38100" cy="224028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8484" y="4087368"/>
            <a:ext cx="314340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100" b="0">
                <a:solidFill>
                  <a:srgbClr val="5C7D94"/>
                </a:solidFill>
                <a:latin typeface="Segoe UI"/>
              </a:defRPr>
            </a:pPr>
            <a:r>
              <a:t>TER - Direct plan</a:t>
            </a:r>
          </a:p>
          <a:p>
            <a:pPr>
              <a:spcBef>
                <a:spcPts val="60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0.62%</a:t>
            </a:r>
          </a:p>
          <a:p>
            <a:pPr>
              <a:spcBef>
                <a:spcPts val="600"/>
              </a:spcBef>
              <a:defRPr sz="900" b="0" i="1">
                <a:solidFill>
                  <a:srgbClr val="5C7D94"/>
                </a:solidFill>
                <a:latin typeface="Segoe UI"/>
              </a:defRPr>
            </a:pPr>
            <a:r>
              <a:t>Factsheet, Key 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Performance against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3175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Northwind Multi-Asset Growth Fund - Q2 2026 Review  ·  Meridian Retirement Trust (CL-4471)  ·  data as of 2026-06-30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5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Period</a:t>
                      </a:r>
                    </a:p>
                  </a:txBody>
                  <a:tcPr anchor="ctr" marL="109728" marR="109728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Fund</a:t>
                      </a:r>
                    </a:p>
                  </a:txBody>
                  <a:tcPr anchor="ctr" marL="109728" marR="109728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Benchmark</a:t>
                      </a:r>
                    </a:p>
                  </a:txBody>
                  <a:tcPr anchor="ctr" marL="109728" marR="109728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Excess</a:t>
                      </a:r>
                    </a:p>
                  </a:txBody>
                  <a:tcPr anchor="ctr" marL="109728" marR="109728">
                    <a:solidFill>
                      <a:srgbClr val="1226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 year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14.2%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12.8%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1.4%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3 years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15.6%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13.1%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2.5%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5 years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13.9%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11.7%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2.2%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Since inception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12.4%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10.9%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1.5%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747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0"/>
              </a:spcBef>
              <a:defRPr sz="900" b="0" i="1">
                <a:solidFill>
                  <a:srgbClr val="5C7D94"/>
                </a:solidFill>
                <a:latin typeface="Segoe UI"/>
              </a:defRPr>
            </a:pPr>
            <a:r>
              <a:t>Source: Factsheet Performance; benchmark and excess from SQL usp_GetExcessReturn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Asset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3175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Northwind Multi-Asset Growth Fund - Q2 2026 Review  ·  Meridian Retirement Trust (CL-4471)  ·  data as of 2026-06-30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163927" y="1417320"/>
          <a:ext cx="78638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0"/>
              </a:spcBef>
              <a:defRPr sz="900" b="0" i="1">
                <a:solidFill>
                  <a:srgbClr val="5C7D94"/>
                </a:solidFill>
                <a:latin typeface="Segoe UI"/>
              </a:defRPr>
            </a:pPr>
            <a:r>
              <a:t>Source: Factsheet, Asset Allocation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Top five holdings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3175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Northwind Multi-Asset Growth Fund - Q2 2026 Review  ·  Meridian Retirement Trust (CL-4471)  ·  data as of 2026-06-30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5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Rank</a:t>
                      </a:r>
                    </a:p>
                  </a:txBody>
                  <a:tcPr anchor="ctr" marL="109728" marR="109728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Holding</a:t>
                      </a:r>
                    </a:p>
                  </a:txBody>
                  <a:tcPr anchor="ctr" marL="109728" marR="109728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 marL="109728" marR="109728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Asset class</a:t>
                      </a:r>
                    </a:p>
                  </a:txBody>
                  <a:tcPr anchor="ctr" marL="109728" marR="109728">
                    <a:solidFill>
                      <a:srgbClr val="1226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HDFC Bank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6.2%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Equity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Reliance Industries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5.1%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Equity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ICICI Bank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4.3%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Equity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Infosys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3.8%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Equity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7.18% GOI 2033 (G-Sec)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3.5%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Debt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Top five total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  <a:r>
                        <a:t>22.9%</a:t>
                      </a: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2263F"/>
                          </a:solidFill>
                          <a:latin typeface="Segoe UI"/>
                        </a:defRPr>
                      </a:pPr>
                    </a:p>
                  </a:txBody>
                  <a:tcPr anchor="ctr" marL="109728" marR="109728"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42816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0"/>
              </a:spcBef>
              <a:defRPr sz="900" b="0" i="1">
                <a:solidFill>
                  <a:srgbClr val="5C7D94"/>
                </a:solidFill>
                <a:latin typeface="Segoe UI"/>
              </a:defRPr>
            </a:pPr>
            <a:r>
              <a:t>Source: Action Get Holdings (holdings.xlsx); total computed in the flow, not by the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Consultant commentary and mandate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3175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Northwind Multi-Asset Growth Fund - Q2 2026 Review  ·  Meridian Retirement Trust (CL-4471)  ·  data as of 2026-06-30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defRPr sz="1800" b="0">
                <a:solidFill>
                  <a:srgbClr val="12263F"/>
                </a:solidFill>
                <a:latin typeface="Segoe UI"/>
              </a:defRPr>
            </a:pPr>
            <a:r>
              <a:t>•   Fund ahead of benchmark over every stated period.</a:t>
            </a:r>
          </a:p>
          <a:p>
            <a:pPr>
              <a:lnSpc>
                <a:spcPct val="115000"/>
              </a:lnSpc>
              <a:spcBef>
                <a:spcPts val="1600"/>
              </a:spcBef>
              <a:defRPr sz="1800" b="0">
                <a:solidFill>
                  <a:srgbClr val="12263F"/>
                </a:solidFill>
                <a:latin typeface="Segoe UI"/>
              </a:defRPr>
            </a:pPr>
            <a:r>
              <a:t>•   Equity 68% against a 70% mandate limit - compliant.</a:t>
            </a:r>
          </a:p>
          <a:p>
            <a:pPr>
              <a:lnSpc>
                <a:spcPct val="115000"/>
              </a:lnSpc>
              <a:spcBef>
                <a:spcPts val="1600"/>
              </a:spcBef>
              <a:defRPr sz="1800" b="0">
                <a:solidFill>
                  <a:srgbClr val="12263F"/>
                </a:solidFill>
                <a:latin typeface="Segoe UI"/>
              </a:defRPr>
            </a:pPr>
            <a:r>
              <a:t>•   Two points of headroom; monitor at next rebalance.</a:t>
            </a:r>
          </a:p>
          <a:p>
            <a:pPr>
              <a:lnSpc>
                <a:spcPct val="115000"/>
              </a:lnSpc>
              <a:spcBef>
                <a:spcPts val="1600"/>
              </a:spcBef>
              <a:defRPr sz="1800" b="0">
                <a:solidFill>
                  <a:srgbClr val="12263F"/>
                </a:solidFill>
                <a:latin typeface="Segoe UI"/>
              </a:defRPr>
            </a:pPr>
            <a:r>
              <a:t>•   Gold sleeve 5%, held as a drawdown hedge.</a:t>
            </a:r>
          </a:p>
          <a:p>
            <a:pPr>
              <a:lnSpc>
                <a:spcPct val="115000"/>
              </a:lnSpc>
              <a:spcBef>
                <a:spcPts val="1600"/>
              </a:spcBef>
              <a:defRPr sz="1800" b="0">
                <a:solidFill>
                  <a:srgbClr val="12263F"/>
                </a:solidFill>
                <a:latin typeface="Segoe UI"/>
              </a:defRPr>
            </a:pPr>
            <a:r>
              <a:t>•   Manager unchanged since 2016 inception.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Bef>
                <a:spcPts val="0"/>
              </a:spcBef>
              <a:defRPr sz="900" b="0" i="1">
                <a:solidFill>
                  <a:srgbClr val="5C7D94"/>
                </a:solidFill>
                <a:latin typeface="Segoe UI"/>
              </a:defRPr>
            </a:pPr>
            <a:r>
              <a:t>Source: Factsheet; action Get Client Mandate (MANDATE-LEGACY-01); manager update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2600" b="1">
                <a:solidFill>
                  <a:srgbClr val="12263F"/>
                </a:solidFill>
                <a:latin typeface="Segoe UI"/>
              </a:defRPr>
            </a:pPr>
            <a:r>
              <a:t>Not sourced - deliberately excluded from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31750"/>
          </a:xfrm>
          <a:prstGeom prst="rect">
            <a:avLst/>
          </a:prstGeom>
          <a:solidFill>
            <a:srgbClr val="1E8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Northwind Multi-Asset Growth Fund - Q2 2026 Review  ·  Meridian Retirement Trust (CL-4471)  ·  data as of 2026-06-30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defRPr sz="800" b="0">
                <a:solidFill>
                  <a:srgbClr val="5C7D94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94415" cy="1828800"/>
          </a:xfrm>
          <a:prstGeom prst="rect">
            <a:avLst/>
          </a:prstGeom>
          <a:solidFill>
            <a:srgbClr val="FFFBF1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543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B45309"/>
                </a:solidFill>
                <a:latin typeface="Segoe UI"/>
              </a:defRPr>
            </a:pPr>
            <a:r>
              <a:t>Every figure below was requested and could not be sourced.</a:t>
            </a:r>
          </a:p>
          <a:p>
            <a:pPr>
              <a:spcBef>
                <a:spcPts val="1400"/>
              </a:spcBef>
              <a:defRPr sz="1400" b="0">
                <a:solidFill>
                  <a:srgbClr val="12263F"/>
                </a:solidFill>
                <a:latin typeface="Segoe UI"/>
              </a:defRPr>
            </a:pPr>
            <a:r>
              <a:t>•   tracking_error - not present in any source document</a:t>
            </a:r>
          </a:p>
          <a:p>
            <a:pPr>
              <a:spcBef>
                <a:spcPts val="1400"/>
              </a:spcBef>
              <a:defRPr sz="1400" b="0">
                <a:solidFill>
                  <a:srgbClr val="12263F"/>
                </a:solidFill>
                <a:latin typeface="Segoe UI"/>
              </a:defRPr>
            </a:pPr>
            <a:r>
              <a:t>•   portfolio_turnover - not present in any source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300" b="0">
                <a:solidFill>
                  <a:srgbClr val="5C7D94"/>
                </a:solidFill>
                <a:latin typeface="Segoe UI"/>
              </a:defRPr>
            </a:pPr>
            <a:r>
              <a:t>A gap is reported, not filled. Anything the agent could not trace to a document or an action is listed here rather than estimated onto a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